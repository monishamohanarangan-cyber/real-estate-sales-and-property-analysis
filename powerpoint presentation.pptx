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handoutMasterIdLst>
    <p:handoutMasterId r:id="rId15"/>
  </p:handoutMasterIdLst>
  <p:sldIdLst>
    <p:sldId id="275" r:id="rId2"/>
    <p:sldId id="388" r:id="rId3"/>
    <p:sldId id="390" r:id="rId4"/>
    <p:sldId id="391" r:id="rId5"/>
    <p:sldId id="392" r:id="rId6"/>
    <p:sldId id="393" r:id="rId7"/>
    <p:sldId id="394" r:id="rId8"/>
    <p:sldId id="395" r:id="rId9"/>
    <p:sldId id="396" r:id="rId10"/>
    <p:sldId id="397" r:id="rId11"/>
    <p:sldId id="366" r:id="rId12"/>
    <p:sldId id="301"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27" autoAdjust="0"/>
    <p:restoredTop sz="94590" autoAdjust="0"/>
  </p:normalViewPr>
  <p:slideViewPr>
    <p:cSldViewPr>
      <p:cViewPr varScale="1">
        <p:scale>
          <a:sx n="70" d="100"/>
          <a:sy n="70" d="100"/>
        </p:scale>
        <p:origin x="1396"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2904"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3472FC0-3A6E-4FDF-98C7-05D53ADA3185}" type="datetimeFigureOut">
              <a:rPr lang="en-US" smtClean="0"/>
              <a:pPr/>
              <a:t>10/18/2026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7E15A7B-879F-45B5-9291-0F55AE53DB35}" type="slidenum">
              <a:rPr lang="en-US" smtClean="0"/>
              <a:pPr/>
              <a:t>‹#›</a:t>
            </a:fld>
            <a:endParaRPr lang="en-US"/>
          </a:p>
        </p:txBody>
      </p:sp>
    </p:spTree>
    <p:extLst>
      <p:ext uri="{BB962C8B-B14F-4D97-AF65-F5344CB8AC3E}">
        <p14:creationId xmlns:p14="http://schemas.microsoft.com/office/powerpoint/2010/main" val="23923146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F44B48-72A2-4A15-9A9B-0DA2BF7C6B02}" type="datetimeFigureOut">
              <a:rPr lang="en-US" smtClean="0"/>
              <a:pPr/>
              <a:t>10/18/2026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D238FA3-189B-4AA8-9E46-1FED810FB611}" type="slidenum">
              <a:rPr lang="en-US" smtClean="0"/>
              <a:pPr/>
              <a:t>‹#›</a:t>
            </a:fld>
            <a:endParaRPr lang="en-US"/>
          </a:p>
        </p:txBody>
      </p:sp>
    </p:spTree>
    <p:extLst>
      <p:ext uri="{BB962C8B-B14F-4D97-AF65-F5344CB8AC3E}">
        <p14:creationId xmlns:p14="http://schemas.microsoft.com/office/powerpoint/2010/main" val="798616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238FA3-189B-4AA8-9E46-1FED810FB611}" type="slidenum">
              <a:rPr lang="en-US" smtClean="0"/>
              <a:pPr/>
              <a:t>1</a:t>
            </a:fld>
            <a:endParaRPr lang="en-US"/>
          </a:p>
        </p:txBody>
      </p:sp>
    </p:spTree>
    <p:extLst>
      <p:ext uri="{BB962C8B-B14F-4D97-AF65-F5344CB8AC3E}">
        <p14:creationId xmlns:p14="http://schemas.microsoft.com/office/powerpoint/2010/main" val="27477395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238FA3-189B-4AA8-9E46-1FED810FB611}" type="slidenum">
              <a:rPr lang="en-US" smtClean="0"/>
              <a:pPr/>
              <a:t>11</a:t>
            </a:fld>
            <a:endParaRPr lang="en-US"/>
          </a:p>
        </p:txBody>
      </p:sp>
    </p:spTree>
    <p:extLst>
      <p:ext uri="{BB962C8B-B14F-4D97-AF65-F5344CB8AC3E}">
        <p14:creationId xmlns:p14="http://schemas.microsoft.com/office/powerpoint/2010/main" val="2015045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3BD94B3-44B9-44B7-85A7-F056FA607D46}" type="datetime3">
              <a:rPr lang="en-US" smtClean="0"/>
              <a:t>18 October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969781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7275DB-6D13-480B-AC77-F5019BDC5287}" type="datetime3">
              <a:rPr lang="en-US" smtClean="0"/>
              <a:t>18 October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383148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2A365F-315E-4D26-B736-3944439F5E09}" type="datetime3">
              <a:rPr lang="en-US" smtClean="0"/>
              <a:t>18 October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1244091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AB1E7AE-CF1A-4AE7-BD2C-F950D278A3DB}" type="datetime3">
              <a:rPr lang="en-US" smtClean="0"/>
              <a:t>18 October 2026</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017900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C6D51F8-804C-441D-85CA-D64DC6F78406}" type="datetime3">
              <a:rPr lang="en-US" smtClean="0"/>
              <a:t>18 October 2026</a:t>
            </a:fld>
            <a:endParaRPr lang="en-US"/>
          </a:p>
        </p:txBody>
      </p:sp>
      <p:sp>
        <p:nvSpPr>
          <p:cNvPr id="8" name="Footer Placeholder 7"/>
          <p:cNvSpPr>
            <a:spLocks noGrp="1"/>
          </p:cNvSpPr>
          <p:nvPr>
            <p:ph type="ftr" sz="quarter" idx="11"/>
          </p:nvPr>
        </p:nvSpPr>
        <p:spPr/>
        <p:txBody>
          <a:bodyPr/>
          <a:lstStyle/>
          <a:p>
            <a:r>
              <a:rPr lang="en-US"/>
              <a:t>School of Computing - CSE</a:t>
            </a:r>
          </a:p>
        </p:txBody>
      </p:sp>
      <p:sp>
        <p:nvSpPr>
          <p:cNvPr id="9" name="Slide Number Placeholder 8"/>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240346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7CCCDB-4457-4C48-985F-BD1C33DF88D2}" type="datetime3">
              <a:rPr lang="en-US" smtClean="0"/>
              <a:t>18 October 2026</a:t>
            </a:fld>
            <a:endParaRPr lang="en-US"/>
          </a:p>
        </p:txBody>
      </p:sp>
      <p:sp>
        <p:nvSpPr>
          <p:cNvPr id="4" name="Footer Placeholder 3"/>
          <p:cNvSpPr>
            <a:spLocks noGrp="1"/>
          </p:cNvSpPr>
          <p:nvPr>
            <p:ph type="ftr" sz="quarter" idx="11"/>
          </p:nvPr>
        </p:nvSpPr>
        <p:spPr/>
        <p:txBody>
          <a:bodyPr/>
          <a:lstStyle/>
          <a:p>
            <a:r>
              <a:rPr lang="en-US"/>
              <a:t>School of Computing - CSE</a:t>
            </a:r>
          </a:p>
        </p:txBody>
      </p:sp>
      <p:sp>
        <p:nvSpPr>
          <p:cNvPr id="5" name="Slide Number Placeholder 4"/>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788019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F4AF7E-7813-4879-8B55-5575B0080D39}" type="datetime3">
              <a:rPr lang="en-US" smtClean="0"/>
              <a:t>18 October 2026</a:t>
            </a:fld>
            <a:endParaRPr lang="en-US"/>
          </a:p>
        </p:txBody>
      </p:sp>
      <p:sp>
        <p:nvSpPr>
          <p:cNvPr id="3" name="Footer Placeholder 2"/>
          <p:cNvSpPr>
            <a:spLocks noGrp="1"/>
          </p:cNvSpPr>
          <p:nvPr>
            <p:ph type="ftr" sz="quarter" idx="11"/>
          </p:nvPr>
        </p:nvSpPr>
        <p:spPr/>
        <p:txBody>
          <a:bodyPr/>
          <a:lstStyle/>
          <a:p>
            <a:r>
              <a:rPr lang="en-US"/>
              <a:t>School of Computing - CSE</a:t>
            </a:r>
          </a:p>
        </p:txBody>
      </p:sp>
      <p:sp>
        <p:nvSpPr>
          <p:cNvPr id="4" name="Slide Number Placeholder 3"/>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3352883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9EC94D0-F97F-48E4-A142-9DA614267486}" type="datetime3">
              <a:rPr lang="en-US" smtClean="0"/>
              <a:t>18 October 2026</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73928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7DA9B2-FBCA-4233-9590-C0754509BDB5}" type="datetime3">
              <a:rPr lang="en-US" smtClean="0"/>
              <a:t>18 October 2026</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452269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B910C5-081D-4FA6-9B78-BB56BEB475DD}" type="datetime3">
              <a:rPr lang="en-US" smtClean="0"/>
              <a:t>18 October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2050042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8360AF-72BE-4445-B200-736511B20555}" type="datetime3">
              <a:rPr lang="en-US" smtClean="0"/>
              <a:t>18 October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Tree>
    <p:extLst>
      <p:ext uri="{BB962C8B-B14F-4D97-AF65-F5344CB8AC3E}">
        <p14:creationId xmlns:p14="http://schemas.microsoft.com/office/powerpoint/2010/main" val="10668611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noFill/>
          <a:ln>
            <a:noFill/>
          </a:ln>
          <a:effectLst>
            <a:outerShdw blurRad="50800" dist="50800" dir="5400000" algn="ctr" rotWithShape="0">
              <a:schemeClr val="bg1"/>
            </a:outerShdw>
          </a:effectLst>
        </p:spPr>
        <p:txBody>
          <a:bodyPr/>
          <a:lstStyle>
            <a:lvl1pPr>
              <a:defRPr>
                <a:solidFill>
                  <a:schemeClr val="accent6">
                    <a:lumMod val="50000"/>
                  </a:schemeClr>
                </a:solidFill>
              </a:defRPr>
            </a:lvl1pPr>
          </a:lstStyle>
          <a:p>
            <a:fld id="{10B6530B-5C68-4965-B8A9-8C18D26903BD}" type="datetime3">
              <a:rPr lang="en-US" smtClean="0"/>
              <a:t>18 October 2026</a:t>
            </a:fld>
            <a:endParaRPr lang="en-US" dirty="0"/>
          </a:p>
        </p:txBody>
      </p:sp>
      <p:sp>
        <p:nvSpPr>
          <p:cNvPr id="5" name="Footer Placeholder 4"/>
          <p:cNvSpPr>
            <a:spLocks noGrp="1"/>
          </p:cNvSpPr>
          <p:nvPr>
            <p:ph type="ftr" sz="quarter" idx="11"/>
          </p:nvPr>
        </p:nvSpPr>
        <p:spPr/>
        <p:txBody>
          <a:bodyPr/>
          <a:lstStyle>
            <a:lvl1pPr>
              <a:defRPr>
                <a:solidFill>
                  <a:schemeClr val="accent6">
                    <a:lumMod val="50000"/>
                  </a:schemeClr>
                </a:solidFill>
              </a:defRPr>
            </a:lvl1pPr>
          </a:lstStyle>
          <a:p>
            <a:r>
              <a:rPr lang="en-US"/>
              <a:t>School of Computing - CSE</a:t>
            </a:r>
            <a:endParaRPr lang="en-US" dirty="0"/>
          </a:p>
        </p:txBody>
      </p:sp>
      <p:sp>
        <p:nvSpPr>
          <p:cNvPr id="6" name="Slide Number Placeholder 5"/>
          <p:cNvSpPr>
            <a:spLocks noGrp="1"/>
          </p:cNvSpPr>
          <p:nvPr>
            <p:ph type="sldNum" sz="quarter" idx="12"/>
          </p:nvPr>
        </p:nvSpPr>
        <p:spPr/>
        <p:txBody>
          <a:bodyPr/>
          <a:lstStyle>
            <a:lvl1pPr>
              <a:defRPr>
                <a:solidFill>
                  <a:schemeClr val="accent6">
                    <a:lumMod val="50000"/>
                  </a:schemeClr>
                </a:solidFill>
              </a:defRPr>
            </a:lvl1pPr>
          </a:lstStyle>
          <a:p>
            <a:fld id="{C0EC1BDC-9B67-430D-970A-E36C75175141}"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8940" y="228600"/>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4D4881-3C1B-4E10-8E47-87CE42F43D14}" type="datetime3">
              <a:rPr lang="en-US" smtClean="0"/>
              <a:t>18 October 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School of Computing - CSE</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28076C-CE04-4A00-BFAA-A90EA8355859}" type="slidenum">
              <a:rPr lang="en-US" smtClean="0"/>
              <a:pPr/>
              <a:t>‹#›</a:t>
            </a:fld>
            <a:endParaRPr lang="en-US"/>
          </a:p>
        </p:txBody>
      </p:sp>
      <p:sp>
        <p:nvSpPr>
          <p:cNvPr id="8" name="Rectangle 7"/>
          <p:cNvSpPr/>
          <p:nvPr userDrawn="1"/>
        </p:nvSpPr>
        <p:spPr>
          <a:xfrm>
            <a:off x="298940" y="177143"/>
            <a:ext cx="8610600" cy="6553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p:cNvCxnSpPr/>
          <p:nvPr userDrawn="1"/>
        </p:nvCxnSpPr>
        <p:spPr>
          <a:xfrm>
            <a:off x="298940" y="1219200"/>
            <a:ext cx="8610600" cy="1588"/>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23151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50"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learn.microsoft.com/power-bi/visuals/power-bi-visualization-types-for-reports-and-q-and-a?utm_source=chatgpt.com"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a:spLocks noGrp="1"/>
          </p:cNvSpPr>
          <p:nvPr>
            <p:ph type="ctrTitle"/>
          </p:nvPr>
        </p:nvSpPr>
        <p:spPr>
          <a:xfrm>
            <a:off x="571500" y="449944"/>
            <a:ext cx="7772400" cy="3505199"/>
          </a:xfrm>
        </p:spPr>
        <p:txBody>
          <a:bodyPr>
            <a:normAutofit/>
          </a:bodyPr>
          <a:lstStyle/>
          <a:p>
            <a:br>
              <a:rPr lang="en-IN" sz="2000" dirty="0">
                <a:solidFill>
                  <a:schemeClr val="accent1">
                    <a:lumMod val="50000"/>
                  </a:schemeClr>
                </a:solidFill>
                <a:latin typeface="Arial" pitchFamily="34" charset="0"/>
                <a:cs typeface="Arial" pitchFamily="34" charset="0"/>
              </a:rPr>
            </a:br>
            <a:br>
              <a:rPr lang="en-IN" sz="2400" dirty="0">
                <a:solidFill>
                  <a:schemeClr val="accent1">
                    <a:lumMod val="50000"/>
                  </a:schemeClr>
                </a:solidFill>
                <a:latin typeface="Arial" pitchFamily="34" charset="0"/>
                <a:cs typeface="Arial" pitchFamily="34" charset="0"/>
              </a:rPr>
            </a:br>
            <a:endParaRPr lang="en-US" sz="2400" dirty="0">
              <a:solidFill>
                <a:schemeClr val="accent1">
                  <a:lumMod val="50000"/>
                </a:schemeClr>
              </a:solidFill>
              <a:latin typeface="Arial" pitchFamily="34" charset="0"/>
              <a:cs typeface="Arial" pitchFamily="34" charset="0"/>
            </a:endParaRPr>
          </a:p>
        </p:txBody>
      </p:sp>
      <p:sp>
        <p:nvSpPr>
          <p:cNvPr id="17" name="Subtitle 2"/>
          <p:cNvSpPr>
            <a:spLocks noGrp="1"/>
          </p:cNvSpPr>
          <p:nvPr>
            <p:ph type="subTitle" idx="1"/>
          </p:nvPr>
        </p:nvSpPr>
        <p:spPr>
          <a:xfrm>
            <a:off x="1293627" y="3512438"/>
            <a:ext cx="6709143" cy="885409"/>
          </a:xfrm>
        </p:spPr>
        <p:txBody>
          <a:bodyPr>
            <a:normAutofit fontScale="47500" lnSpcReduction="20000"/>
          </a:bodyPr>
          <a:lstStyle/>
          <a:p>
            <a:r>
              <a:rPr lang="en-IN" sz="6000" b="1" dirty="0">
                <a:solidFill>
                  <a:schemeClr val="tx1"/>
                </a:solidFill>
                <a:latin typeface="Times New Roman" panose="02020603050405020304" pitchFamily="18" charset="0"/>
                <a:cs typeface="Times New Roman" panose="02020603050405020304" pitchFamily="18" charset="0"/>
              </a:rPr>
              <a:t>Real Estate Sales and Property Analysis</a:t>
            </a:r>
          </a:p>
          <a:p>
            <a:endParaRPr lang="en-US" sz="5700" b="1" dirty="0">
              <a:solidFill>
                <a:schemeClr val="tx1"/>
              </a:solidFill>
              <a:latin typeface="Arial" pitchFamily="34" charset="0"/>
              <a:cs typeface="Arial" pitchFamily="34" charset="0"/>
            </a:endParaRPr>
          </a:p>
        </p:txBody>
      </p:sp>
      <p:sp>
        <p:nvSpPr>
          <p:cNvPr id="4" name="Date Placeholder 3"/>
          <p:cNvSpPr>
            <a:spLocks noGrp="1"/>
          </p:cNvSpPr>
          <p:nvPr>
            <p:ph type="dt" sz="half" idx="10"/>
          </p:nvPr>
        </p:nvSpPr>
        <p:spPr>
          <a:effectLst>
            <a:outerShdw blurRad="50800" dist="50800" dir="5400000" algn="ctr" rotWithShape="0">
              <a:schemeClr val="bg1"/>
            </a:outerShdw>
          </a:effectLst>
        </p:spPr>
        <p:txBody>
          <a:bodyPr/>
          <a:lstStyle/>
          <a:p>
            <a:fld id="{264FFBAA-9A17-4F9A-B1BD-20F0F5B52AB6}" type="datetime3">
              <a:rPr lang="en-US" smtClean="0"/>
              <a:t>18 October 2026</a:t>
            </a:fld>
            <a:endParaRPr lang="en-US" dirty="0"/>
          </a:p>
        </p:txBody>
      </p:sp>
      <p:sp>
        <p:nvSpPr>
          <p:cNvPr id="6" name="Footer Placeholder 5"/>
          <p:cNvSpPr>
            <a:spLocks noGrp="1"/>
          </p:cNvSpPr>
          <p:nvPr>
            <p:ph type="ftr" sz="quarter" idx="11"/>
          </p:nvPr>
        </p:nvSpPr>
        <p:spPr/>
        <p:txBody>
          <a:bodyPr/>
          <a:lstStyle/>
          <a:p>
            <a:r>
              <a:rPr lang="en-US" dirty="0"/>
              <a:t>School of Computing - CSE</a:t>
            </a:r>
          </a:p>
        </p:txBody>
      </p:sp>
      <p:sp>
        <p:nvSpPr>
          <p:cNvPr id="5" name="Slide Number Placeholder 4"/>
          <p:cNvSpPr>
            <a:spLocks noGrp="1"/>
          </p:cNvSpPr>
          <p:nvPr>
            <p:ph type="sldNum" sz="quarter" idx="12"/>
          </p:nvPr>
        </p:nvSpPr>
        <p:spPr/>
        <p:txBody>
          <a:bodyPr/>
          <a:lstStyle/>
          <a:p>
            <a:fld id="{C0EC1BDC-9B67-430D-970A-E36C75175141}" type="slidenum">
              <a:rPr lang="en-US" smtClean="0"/>
              <a:pPr/>
              <a:t>1</a:t>
            </a:fld>
            <a:endParaRPr lang="en-US"/>
          </a:p>
        </p:txBody>
      </p:sp>
      <p:sp>
        <p:nvSpPr>
          <p:cNvPr id="14" name="TextBox 13">
            <a:extLst>
              <a:ext uri="{FF2B5EF4-FFF2-40B4-BE49-F238E27FC236}">
                <a16:creationId xmlns:a16="http://schemas.microsoft.com/office/drawing/2014/main" id="{41C8031F-DC64-6DA7-5E1D-856D8119A1D3}"/>
              </a:ext>
            </a:extLst>
          </p:cNvPr>
          <p:cNvSpPr txBox="1"/>
          <p:nvPr/>
        </p:nvSpPr>
        <p:spPr>
          <a:xfrm>
            <a:off x="342898" y="2245640"/>
            <a:ext cx="8610599" cy="1292662"/>
          </a:xfrm>
          <a:prstGeom prst="rect">
            <a:avLst/>
          </a:prstGeom>
          <a:noFill/>
        </p:spPr>
        <p:txBody>
          <a:bodyPr wrap="square">
            <a:spAutoFit/>
          </a:bodyPr>
          <a:lstStyle/>
          <a:p>
            <a:pPr algn="ctr"/>
            <a:endParaRPr lang="en-IN" sz="2000" b="1" dirty="0">
              <a:latin typeface="Arial" panose="020B0604020202020204" pitchFamily="34" charset="0"/>
              <a:cs typeface="Arial" panose="020B0604020202020204" pitchFamily="34" charset="0"/>
            </a:endParaRPr>
          </a:p>
          <a:p>
            <a:pPr algn="ctr"/>
            <a:r>
              <a:rPr lang="en-IN" sz="2000" b="1" dirty="0">
                <a:latin typeface="Arial" panose="020B0604020202020204" pitchFamily="34" charset="0"/>
                <a:cs typeface="Arial" panose="020B0604020202020204" pitchFamily="34" charset="0"/>
              </a:rPr>
              <a:t>DEPARTMENT OF COMPUTER SCIENCE AND ENGINEERING</a:t>
            </a:r>
          </a:p>
          <a:p>
            <a:pPr algn="ctr"/>
            <a:endParaRPr lang="en-IN" sz="2000" b="1" dirty="0">
              <a:latin typeface="Arial" panose="020B0604020202020204" pitchFamily="34" charset="0"/>
              <a:cs typeface="Arial" panose="020B0604020202020204" pitchFamily="34" charset="0"/>
            </a:endParaRPr>
          </a:p>
          <a:p>
            <a:pPr algn="ctr"/>
            <a:r>
              <a:rPr lang="en-US" b="1" dirty="0"/>
              <a:t>Professional Training I</a:t>
            </a:r>
          </a:p>
        </p:txBody>
      </p:sp>
      <p:sp>
        <p:nvSpPr>
          <p:cNvPr id="29" name="Subtitle 2">
            <a:extLst>
              <a:ext uri="{FF2B5EF4-FFF2-40B4-BE49-F238E27FC236}">
                <a16:creationId xmlns:a16="http://schemas.microsoft.com/office/drawing/2014/main" id="{431E86DB-7CEA-B3DC-1DF2-33457A550B1A}"/>
              </a:ext>
            </a:extLst>
          </p:cNvPr>
          <p:cNvSpPr txBox="1">
            <a:spLocks/>
          </p:cNvSpPr>
          <p:nvPr/>
        </p:nvSpPr>
        <p:spPr>
          <a:xfrm>
            <a:off x="457200" y="4901084"/>
            <a:ext cx="8381999" cy="1487883"/>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2400" b="1" dirty="0">
                <a:solidFill>
                  <a:schemeClr val="tx1"/>
                </a:solidFill>
              </a:rPr>
              <a:t>PROJECT STUDENT                                                  GUIDE</a:t>
            </a:r>
          </a:p>
          <a:p>
            <a:pPr algn="l"/>
            <a:r>
              <a:rPr lang="en-US" sz="2000" b="1" dirty="0">
                <a:solidFill>
                  <a:schemeClr val="tx1"/>
                </a:solidFill>
              </a:rPr>
              <a:t>SAI MONISHA.M,  44111001                                                  Dr. M. MAHASREE</a:t>
            </a:r>
            <a:endParaRPr lang="en-GB" sz="2000" dirty="0">
              <a:solidFill>
                <a:schemeClr val="tx1"/>
              </a:solidFill>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6352" y="319093"/>
            <a:ext cx="8496301" cy="204310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AGENDA</a:t>
            </a:r>
          </a:p>
        </p:txBody>
      </p:sp>
      <p:sp>
        <p:nvSpPr>
          <p:cNvPr id="3" name="Content Placeholder 2"/>
          <p:cNvSpPr>
            <a:spLocks noGrp="1"/>
          </p:cNvSpPr>
          <p:nvPr>
            <p:ph idx="1"/>
          </p:nvPr>
        </p:nvSpPr>
        <p:spPr>
          <a:xfrm>
            <a:off x="457200" y="1600993"/>
            <a:ext cx="8229600" cy="4525963"/>
          </a:xfrm>
        </p:spPr>
        <p:txBody>
          <a:bodyPr>
            <a:normAutofit fontScale="92500" lnSpcReduction="20000"/>
          </a:bodyPr>
          <a:lstStyle/>
          <a:p>
            <a:r>
              <a:rPr lang="en-US" dirty="0"/>
              <a:t>Certificate</a:t>
            </a:r>
          </a:p>
          <a:p>
            <a:r>
              <a:rPr lang="en-US" dirty="0"/>
              <a:t>Abstract</a:t>
            </a:r>
          </a:p>
          <a:p>
            <a:r>
              <a:rPr lang="en-US" dirty="0"/>
              <a:t>Introduction</a:t>
            </a:r>
          </a:p>
          <a:p>
            <a:r>
              <a:rPr lang="en-US" dirty="0"/>
              <a:t>Objective</a:t>
            </a:r>
          </a:p>
          <a:p>
            <a:r>
              <a:rPr lang="en-US" dirty="0"/>
              <a:t>System Architecture / Ideation Map</a:t>
            </a:r>
          </a:p>
          <a:p>
            <a:r>
              <a:rPr lang="en-US" dirty="0"/>
              <a:t>Module Implementation</a:t>
            </a:r>
          </a:p>
          <a:p>
            <a:r>
              <a:rPr lang="en-US" dirty="0"/>
              <a:t>Results and Discussions</a:t>
            </a:r>
          </a:p>
          <a:p>
            <a:r>
              <a:rPr lang="en-US" dirty="0"/>
              <a:t>Conclusion</a:t>
            </a:r>
          </a:p>
          <a:p>
            <a:r>
              <a:rPr lang="en-US" dirty="0"/>
              <a:t>References</a:t>
            </a:r>
          </a:p>
          <a:p>
            <a:endParaRPr lang="en-US" dirty="0"/>
          </a:p>
          <a:p>
            <a:endParaRPr lang="en-US" dirty="0"/>
          </a:p>
          <a:p>
            <a:endParaRPr lang="en-US" dirty="0"/>
          </a:p>
        </p:txBody>
      </p:sp>
      <p:sp>
        <p:nvSpPr>
          <p:cNvPr id="4" name="Date Placeholder 3"/>
          <p:cNvSpPr>
            <a:spLocks noGrp="1"/>
          </p:cNvSpPr>
          <p:nvPr>
            <p:ph type="dt" sz="half" idx="10"/>
          </p:nvPr>
        </p:nvSpPr>
        <p:spPr/>
        <p:txBody>
          <a:bodyPr/>
          <a:lstStyle/>
          <a:p>
            <a:fld id="{EB7275DB-6D13-480B-AC77-F5019BDC5287}" type="datetime3">
              <a:rPr lang="en-US" smtClean="0"/>
              <a:t>18 October 2026</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pPr/>
              <a:t>2</a:t>
            </a:fld>
            <a:endParaRPr lang="en-US"/>
          </a:p>
        </p:txBody>
      </p:sp>
    </p:spTree>
    <p:extLst>
      <p:ext uri="{BB962C8B-B14F-4D97-AF65-F5344CB8AC3E}">
        <p14:creationId xmlns:p14="http://schemas.microsoft.com/office/powerpoint/2010/main" val="34408998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59F68-BEA2-7D83-83CC-DB2FA3DB80A7}"/>
              </a:ext>
            </a:extLst>
          </p:cNvPr>
          <p:cNvSpPr>
            <a:spLocks noGrp="1"/>
          </p:cNvSpPr>
          <p:nvPr>
            <p:ph type="title"/>
          </p:nvPr>
        </p:nvSpPr>
        <p:spPr/>
        <p:txBody>
          <a:bodyPr>
            <a:normAutofit/>
          </a:bodyPr>
          <a:lstStyle/>
          <a:p>
            <a:r>
              <a:rPr lang="en-US" sz="3600" dirty="0"/>
              <a:t>COURSE CERTIFICATE</a:t>
            </a:r>
          </a:p>
        </p:txBody>
      </p:sp>
      <p:sp>
        <p:nvSpPr>
          <p:cNvPr id="5" name="Footer Placeholder 4">
            <a:extLst>
              <a:ext uri="{FF2B5EF4-FFF2-40B4-BE49-F238E27FC236}">
                <a16:creationId xmlns:a16="http://schemas.microsoft.com/office/drawing/2014/main" id="{397B7C33-DB32-8A92-0FB9-94A237F8119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ACB38E7-C314-D639-6C8E-0B5C6D5174D1}"/>
              </a:ext>
            </a:extLst>
          </p:cNvPr>
          <p:cNvSpPr>
            <a:spLocks noGrp="1"/>
          </p:cNvSpPr>
          <p:nvPr>
            <p:ph type="sldNum" sz="quarter" idx="12"/>
          </p:nvPr>
        </p:nvSpPr>
        <p:spPr/>
        <p:txBody>
          <a:bodyPr/>
          <a:lstStyle/>
          <a:p>
            <a:fld id="{7B28076C-CE04-4A00-BFAA-A90EA8355859}" type="slidenum">
              <a:rPr lang="en-US" smtClean="0"/>
              <a:pPr/>
              <a:t>3</a:t>
            </a:fld>
            <a:endParaRPr lang="en-US" dirty="0"/>
          </a:p>
        </p:txBody>
      </p:sp>
      <p:pic>
        <p:nvPicPr>
          <p:cNvPr id="7" name="Content Placeholder 6">
            <a:extLst>
              <a:ext uri="{FF2B5EF4-FFF2-40B4-BE49-F238E27FC236}">
                <a16:creationId xmlns:a16="http://schemas.microsoft.com/office/drawing/2014/main" id="{51E6D8D9-963A-666D-A4B4-04270BC2D02E}"/>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260406" y="1524000"/>
            <a:ext cx="6393122" cy="4525963"/>
          </a:xfrm>
          <a:prstGeom prst="rect">
            <a:avLst/>
          </a:prstGeom>
        </p:spPr>
      </p:pic>
    </p:spTree>
    <p:extLst>
      <p:ext uri="{BB962C8B-B14F-4D97-AF65-F5344CB8AC3E}">
        <p14:creationId xmlns:p14="http://schemas.microsoft.com/office/powerpoint/2010/main" val="4270359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CB6A8-0369-0345-44ED-A7F8AEFA71C4}"/>
              </a:ext>
            </a:extLst>
          </p:cNvPr>
          <p:cNvSpPr>
            <a:spLocks noGrp="1"/>
          </p:cNvSpPr>
          <p:nvPr>
            <p:ph type="title"/>
          </p:nvPr>
        </p:nvSpPr>
        <p:spPr/>
        <p:txBody>
          <a:bodyPr/>
          <a:lstStyle/>
          <a:p>
            <a:r>
              <a:rPr lang="en-US" dirty="0"/>
              <a:t>ABSTRACT</a:t>
            </a:r>
            <a:endParaRPr lang="en-IN" dirty="0"/>
          </a:p>
        </p:txBody>
      </p:sp>
      <p:sp>
        <p:nvSpPr>
          <p:cNvPr id="3" name="Content Placeholder 2">
            <a:extLst>
              <a:ext uri="{FF2B5EF4-FFF2-40B4-BE49-F238E27FC236}">
                <a16:creationId xmlns:a16="http://schemas.microsoft.com/office/drawing/2014/main" id="{230190E1-9C7B-483A-1D69-E41D05DB855B}"/>
              </a:ext>
            </a:extLst>
          </p:cNvPr>
          <p:cNvSpPr>
            <a:spLocks noGrp="1"/>
          </p:cNvSpPr>
          <p:nvPr>
            <p:ph idx="1"/>
          </p:nvPr>
        </p:nvSpPr>
        <p:spPr/>
        <p:txBody>
          <a:bodyPr>
            <a:normAutofit fontScale="85000" lnSpcReduction="20000"/>
          </a:bodyPr>
          <a:lstStyle/>
          <a:p>
            <a:pPr marL="0" indent="0" algn="just">
              <a:buNone/>
            </a:pPr>
            <a:endParaRPr lang="en-IN" b="1" dirty="0"/>
          </a:p>
          <a:p>
            <a:pPr marL="0" indent="0" algn="just">
              <a:buNone/>
            </a:pPr>
            <a:r>
              <a:rPr lang="en-IN" dirty="0"/>
              <a:t>The </a:t>
            </a:r>
            <a:r>
              <a:rPr lang="en-IN" b="1" dirty="0"/>
              <a:t>Real Estate Sales and Property Analysis using Power BI</a:t>
            </a:r>
            <a:r>
              <a:rPr lang="en-IN" dirty="0"/>
              <a:t> project focuses on </a:t>
            </a:r>
            <a:r>
              <a:rPr lang="en-IN" dirty="0" err="1"/>
              <a:t>analyzing</a:t>
            </a:r>
            <a:r>
              <a:rPr lang="en-IN" dirty="0"/>
              <a:t> real estate sales data to identify important trends and patterns. The system uses Power BI to visualize property sales based on location, property type, price range, and time period. Interactive dashboards, KPI cards, charts, and filters provide insights into total sales, revenue, average property price, monthly trends, and top-performing locations. The dashboard converts raw data into meaningful visual information, helping users understand market performance and supporting data-driven real estate planning and analysis.</a:t>
            </a:r>
          </a:p>
          <a:p>
            <a:pPr algn="just"/>
            <a:endParaRPr lang="en-IN" dirty="0"/>
          </a:p>
        </p:txBody>
      </p:sp>
      <p:sp>
        <p:nvSpPr>
          <p:cNvPr id="4" name="Date Placeholder 3">
            <a:extLst>
              <a:ext uri="{FF2B5EF4-FFF2-40B4-BE49-F238E27FC236}">
                <a16:creationId xmlns:a16="http://schemas.microsoft.com/office/drawing/2014/main" id="{716EDA8E-AE01-1960-764B-68A0DCEA9781}"/>
              </a:ext>
            </a:extLst>
          </p:cNvPr>
          <p:cNvSpPr>
            <a:spLocks noGrp="1"/>
          </p:cNvSpPr>
          <p:nvPr>
            <p:ph type="dt" sz="half" idx="10"/>
          </p:nvPr>
        </p:nvSpPr>
        <p:spPr/>
        <p:txBody>
          <a:bodyPr/>
          <a:lstStyle/>
          <a:p>
            <a:fld id="{EB7275DB-6D13-480B-AC77-F5019BDC5287}" type="datetime3">
              <a:rPr lang="en-US" smtClean="0"/>
              <a:t>18 October 2026</a:t>
            </a:fld>
            <a:endParaRPr lang="en-US"/>
          </a:p>
        </p:txBody>
      </p:sp>
      <p:sp>
        <p:nvSpPr>
          <p:cNvPr id="5" name="Footer Placeholder 4">
            <a:extLst>
              <a:ext uri="{FF2B5EF4-FFF2-40B4-BE49-F238E27FC236}">
                <a16:creationId xmlns:a16="http://schemas.microsoft.com/office/drawing/2014/main" id="{3F9DD9D8-419A-D8F1-1E13-449EA448522F}"/>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40812BF5-7186-C4FC-7F00-15FFEC5439A2}"/>
              </a:ext>
            </a:extLst>
          </p:cNvPr>
          <p:cNvSpPr>
            <a:spLocks noGrp="1"/>
          </p:cNvSpPr>
          <p:nvPr>
            <p:ph type="sldNum" sz="quarter" idx="12"/>
          </p:nvPr>
        </p:nvSpPr>
        <p:spPr/>
        <p:txBody>
          <a:bodyPr/>
          <a:lstStyle/>
          <a:p>
            <a:fld id="{7B28076C-CE04-4A00-BFAA-A90EA8355859}" type="slidenum">
              <a:rPr lang="en-US" smtClean="0"/>
              <a:pPr/>
              <a:t>4</a:t>
            </a:fld>
            <a:endParaRPr lang="en-US"/>
          </a:p>
        </p:txBody>
      </p:sp>
    </p:spTree>
    <p:extLst>
      <p:ext uri="{BB962C8B-B14F-4D97-AF65-F5344CB8AC3E}">
        <p14:creationId xmlns:p14="http://schemas.microsoft.com/office/powerpoint/2010/main" val="36506312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05ACC-564C-01B6-8393-E26D95439488}"/>
              </a:ext>
            </a:extLst>
          </p:cNvPr>
          <p:cNvSpPr>
            <a:spLocks noGrp="1"/>
          </p:cNvSpPr>
          <p:nvPr>
            <p:ph type="title"/>
          </p:nvPr>
        </p:nvSpPr>
        <p:spPr/>
        <p:txBody>
          <a:bodyPr>
            <a:normAutofit/>
          </a:bodyPr>
          <a:lstStyle/>
          <a:p>
            <a:r>
              <a:rPr lang="en-US" dirty="0"/>
              <a:t>INTRODUCTION</a:t>
            </a:r>
            <a:endParaRPr lang="en-IN" dirty="0"/>
          </a:p>
        </p:txBody>
      </p:sp>
      <p:sp>
        <p:nvSpPr>
          <p:cNvPr id="3" name="Content Placeholder 2">
            <a:extLst>
              <a:ext uri="{FF2B5EF4-FFF2-40B4-BE49-F238E27FC236}">
                <a16:creationId xmlns:a16="http://schemas.microsoft.com/office/drawing/2014/main" id="{30720666-6A3B-26F9-123D-6530695DDBFD}"/>
              </a:ext>
            </a:extLst>
          </p:cNvPr>
          <p:cNvSpPr>
            <a:spLocks noGrp="1"/>
          </p:cNvSpPr>
          <p:nvPr>
            <p:ph idx="1"/>
          </p:nvPr>
        </p:nvSpPr>
        <p:spPr/>
        <p:txBody>
          <a:bodyPr>
            <a:normAutofit fontScale="62500" lnSpcReduction="20000"/>
          </a:bodyPr>
          <a:lstStyle/>
          <a:p>
            <a:pPr algn="just"/>
            <a:r>
              <a:rPr lang="en-IN" dirty="0"/>
              <a:t>The real estate industry generates a large amount of data related to property sales, locations, property types, prices, customers, and revenue. </a:t>
            </a:r>
            <a:r>
              <a:rPr lang="en-IN" dirty="0" err="1"/>
              <a:t>Analyzing</a:t>
            </a:r>
            <a:r>
              <a:rPr lang="en-IN" dirty="0"/>
              <a:t> this data manually can be time-consuming and may make it difficult to identify important sales trends and high-performing locations. This project, </a:t>
            </a:r>
            <a:r>
              <a:rPr lang="en-IN" b="1" dirty="0"/>
              <a:t>Real Estate Sales &amp; Property Analysis using Power BI</a:t>
            </a:r>
            <a:r>
              <a:rPr lang="en-IN" dirty="0"/>
              <a:t>, focuses on developing an interactive dashboard that converts real estate sales data into meaningful visual insights.</a:t>
            </a:r>
          </a:p>
          <a:p>
            <a:pPr algn="just"/>
            <a:r>
              <a:rPr lang="en-IN" dirty="0"/>
              <a:t>The Power BI dashboard </a:t>
            </a:r>
            <a:r>
              <a:rPr lang="en-IN" dirty="0" err="1"/>
              <a:t>analyzes</a:t>
            </a:r>
            <a:r>
              <a:rPr lang="en-IN" dirty="0"/>
              <a:t> property sales based on </a:t>
            </a:r>
            <a:r>
              <a:rPr lang="en-IN" b="1" dirty="0"/>
              <a:t>location, property type, price range, and time period</a:t>
            </a:r>
            <a:r>
              <a:rPr lang="en-IN" dirty="0"/>
              <a:t>. It provides visual representations of total sales, monthly revenue, property distribution, and top-performing locations. Interactive filters allow users to </a:t>
            </a:r>
            <a:r>
              <a:rPr lang="en-IN" dirty="0" err="1"/>
              <a:t>analyze</a:t>
            </a:r>
            <a:r>
              <a:rPr lang="en-IN" dirty="0"/>
              <a:t> specific cities, property categories, and price ranges. The dashboard also uses Key Performance Indicators (KPIs) to provide a quick overview of important business metrics. By presenting the information in an easy-to-understand format, the system helps users identify market patterns and supports data-driven real estate business and investment analysis.</a:t>
            </a:r>
          </a:p>
          <a:p>
            <a:pPr algn="just"/>
            <a:endParaRPr lang="en-IN" dirty="0"/>
          </a:p>
        </p:txBody>
      </p:sp>
      <p:sp>
        <p:nvSpPr>
          <p:cNvPr id="4" name="Date Placeholder 3">
            <a:extLst>
              <a:ext uri="{FF2B5EF4-FFF2-40B4-BE49-F238E27FC236}">
                <a16:creationId xmlns:a16="http://schemas.microsoft.com/office/drawing/2014/main" id="{65938D8B-1A47-41C3-A1E3-503A014A3DA4}"/>
              </a:ext>
            </a:extLst>
          </p:cNvPr>
          <p:cNvSpPr>
            <a:spLocks noGrp="1"/>
          </p:cNvSpPr>
          <p:nvPr>
            <p:ph type="dt" sz="half" idx="10"/>
          </p:nvPr>
        </p:nvSpPr>
        <p:spPr/>
        <p:txBody>
          <a:bodyPr/>
          <a:lstStyle/>
          <a:p>
            <a:fld id="{EB7275DB-6D13-480B-AC77-F5019BDC5287}" type="datetime3">
              <a:rPr lang="en-US" smtClean="0"/>
              <a:t>18 October 2026</a:t>
            </a:fld>
            <a:endParaRPr lang="en-US"/>
          </a:p>
        </p:txBody>
      </p:sp>
      <p:sp>
        <p:nvSpPr>
          <p:cNvPr id="5" name="Footer Placeholder 4">
            <a:extLst>
              <a:ext uri="{FF2B5EF4-FFF2-40B4-BE49-F238E27FC236}">
                <a16:creationId xmlns:a16="http://schemas.microsoft.com/office/drawing/2014/main" id="{E54724D8-9B5B-9645-4FE9-6A1958C6D6C2}"/>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4F51D083-399C-6C07-2309-8597E6CD5FAC}"/>
              </a:ext>
            </a:extLst>
          </p:cNvPr>
          <p:cNvSpPr>
            <a:spLocks noGrp="1"/>
          </p:cNvSpPr>
          <p:nvPr>
            <p:ph type="sldNum" sz="quarter" idx="12"/>
          </p:nvPr>
        </p:nvSpPr>
        <p:spPr/>
        <p:txBody>
          <a:bodyPr/>
          <a:lstStyle/>
          <a:p>
            <a:fld id="{7B28076C-CE04-4A00-BFAA-A90EA8355859}" type="slidenum">
              <a:rPr lang="en-US" smtClean="0"/>
              <a:pPr/>
              <a:t>5</a:t>
            </a:fld>
            <a:endParaRPr lang="en-US"/>
          </a:p>
        </p:txBody>
      </p:sp>
    </p:spTree>
    <p:extLst>
      <p:ext uri="{BB962C8B-B14F-4D97-AF65-F5344CB8AC3E}">
        <p14:creationId xmlns:p14="http://schemas.microsoft.com/office/powerpoint/2010/main" val="14532181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57F37-9FDC-80FE-510D-72972C6BA7C0}"/>
              </a:ext>
            </a:extLst>
          </p:cNvPr>
          <p:cNvSpPr>
            <a:spLocks noGrp="1"/>
          </p:cNvSpPr>
          <p:nvPr>
            <p:ph type="title"/>
          </p:nvPr>
        </p:nvSpPr>
        <p:spPr/>
        <p:txBody>
          <a:bodyPr>
            <a:normAutofit/>
          </a:bodyPr>
          <a:lstStyle/>
          <a:p>
            <a:r>
              <a:rPr lang="en-US" dirty="0"/>
              <a:t>OBJECTIVES</a:t>
            </a:r>
            <a:endParaRPr lang="en-IN" dirty="0"/>
          </a:p>
        </p:txBody>
      </p:sp>
      <p:sp>
        <p:nvSpPr>
          <p:cNvPr id="3" name="Content Placeholder 2">
            <a:extLst>
              <a:ext uri="{FF2B5EF4-FFF2-40B4-BE49-F238E27FC236}">
                <a16:creationId xmlns:a16="http://schemas.microsoft.com/office/drawing/2014/main" id="{DCB95C21-3059-BD2E-C416-3BEFE7D6A511}"/>
              </a:ext>
            </a:extLst>
          </p:cNvPr>
          <p:cNvSpPr>
            <a:spLocks noGrp="1"/>
          </p:cNvSpPr>
          <p:nvPr>
            <p:ph idx="1"/>
          </p:nvPr>
        </p:nvSpPr>
        <p:spPr/>
        <p:txBody>
          <a:bodyPr>
            <a:normAutofit fontScale="55000" lnSpcReduction="20000"/>
          </a:bodyPr>
          <a:lstStyle/>
          <a:p>
            <a:pPr algn="just"/>
            <a:r>
              <a:rPr lang="en-IN" dirty="0"/>
              <a:t>The main objectives of the project are:</a:t>
            </a:r>
          </a:p>
          <a:p>
            <a:pPr lvl="0" algn="just"/>
            <a:r>
              <a:rPr lang="en-IN" dirty="0"/>
              <a:t>To develop an interactive </a:t>
            </a:r>
            <a:r>
              <a:rPr lang="en-IN" b="1" dirty="0"/>
              <a:t>Real Estate Sales Dashboard using Power BI</a:t>
            </a:r>
            <a:r>
              <a:rPr lang="en-IN" dirty="0"/>
              <a:t>. </a:t>
            </a:r>
          </a:p>
          <a:p>
            <a:pPr lvl="0" algn="just"/>
            <a:r>
              <a:rPr lang="en-IN" dirty="0"/>
              <a:t>To </a:t>
            </a:r>
            <a:r>
              <a:rPr lang="en-IN" dirty="0" err="1"/>
              <a:t>analyze</a:t>
            </a:r>
            <a:r>
              <a:rPr lang="en-IN" dirty="0"/>
              <a:t> property sales based on </a:t>
            </a:r>
            <a:r>
              <a:rPr lang="en-IN" b="1" dirty="0"/>
              <a:t>location, property type, and price range</a:t>
            </a:r>
            <a:r>
              <a:rPr lang="en-IN" dirty="0"/>
              <a:t>. </a:t>
            </a:r>
          </a:p>
          <a:p>
            <a:pPr lvl="0" algn="just"/>
            <a:r>
              <a:rPr lang="en-IN" dirty="0"/>
              <a:t>To track </a:t>
            </a:r>
            <a:r>
              <a:rPr lang="en-IN" b="1" dirty="0"/>
              <a:t>monthly sales and revenue trends</a:t>
            </a:r>
            <a:r>
              <a:rPr lang="en-IN" dirty="0"/>
              <a:t>. </a:t>
            </a:r>
          </a:p>
          <a:p>
            <a:pPr lvl="0" algn="just"/>
            <a:r>
              <a:rPr lang="en-IN" dirty="0"/>
              <a:t>To identify </a:t>
            </a:r>
            <a:r>
              <a:rPr lang="en-IN" b="1" dirty="0"/>
              <a:t>top-performing cities and locations</a:t>
            </a:r>
            <a:r>
              <a:rPr lang="en-IN" dirty="0"/>
              <a:t>. </a:t>
            </a:r>
          </a:p>
          <a:p>
            <a:pPr lvl="0" algn="just"/>
            <a:r>
              <a:rPr lang="en-IN" dirty="0"/>
              <a:t>To categorize properties according to different </a:t>
            </a:r>
            <a:r>
              <a:rPr lang="en-IN" b="1" dirty="0"/>
              <a:t>price ranges</a:t>
            </a:r>
            <a:r>
              <a:rPr lang="en-IN" dirty="0"/>
              <a:t>. </a:t>
            </a:r>
          </a:p>
          <a:p>
            <a:pPr lvl="0" algn="just"/>
            <a:r>
              <a:rPr lang="en-IN" dirty="0"/>
              <a:t>To provide interactive filters for </a:t>
            </a:r>
            <a:r>
              <a:rPr lang="en-IN" b="1" dirty="0"/>
              <a:t>city, property type, and price category</a:t>
            </a:r>
            <a:r>
              <a:rPr lang="en-IN" dirty="0"/>
              <a:t>. </a:t>
            </a:r>
          </a:p>
          <a:p>
            <a:pPr lvl="0" algn="just"/>
            <a:r>
              <a:rPr lang="en-IN" dirty="0"/>
              <a:t>To create KPIs for important metrics such as </a:t>
            </a:r>
            <a:r>
              <a:rPr lang="en-IN" b="1" dirty="0"/>
              <a:t>total properties sold, total revenue, and average property price</a:t>
            </a:r>
            <a:r>
              <a:rPr lang="en-IN" dirty="0"/>
              <a:t>. </a:t>
            </a:r>
          </a:p>
          <a:p>
            <a:pPr lvl="0" algn="just"/>
            <a:r>
              <a:rPr lang="en-IN" dirty="0"/>
              <a:t>To provide detailed visual insights that can support </a:t>
            </a:r>
            <a:r>
              <a:rPr lang="en-IN" b="1" dirty="0"/>
              <a:t>real estate business planning and investment analysis</a:t>
            </a:r>
            <a:r>
              <a:rPr lang="en-IN" dirty="0"/>
              <a:t>. </a:t>
            </a:r>
          </a:p>
          <a:p>
            <a:pPr lvl="0" algn="just"/>
            <a:r>
              <a:rPr lang="en-IN" dirty="0"/>
              <a:t>To reduce the effort required for manual analysis of real estate sales data. </a:t>
            </a:r>
          </a:p>
          <a:p>
            <a:pPr lvl="0" algn="just"/>
            <a:r>
              <a:rPr lang="en-IN" dirty="0"/>
              <a:t>To present complex sales information through simple and interactive visualizations. </a:t>
            </a:r>
          </a:p>
          <a:p>
            <a:pPr algn="just"/>
            <a:r>
              <a:rPr lang="en-IN" b="1" dirty="0"/>
              <a:t>3. System Architecture / Ideation Map</a:t>
            </a:r>
          </a:p>
          <a:p>
            <a:pPr algn="just"/>
            <a:r>
              <a:rPr lang="en-IN" dirty="0"/>
              <a:t>The proposed system follows a data-processing and visualization architecture in which raw real estate data is transformed into meaningful information through Power BI.</a:t>
            </a:r>
          </a:p>
          <a:p>
            <a:pPr algn="just"/>
            <a:endParaRPr lang="en-IN" dirty="0"/>
          </a:p>
        </p:txBody>
      </p:sp>
      <p:sp>
        <p:nvSpPr>
          <p:cNvPr id="4" name="Date Placeholder 3">
            <a:extLst>
              <a:ext uri="{FF2B5EF4-FFF2-40B4-BE49-F238E27FC236}">
                <a16:creationId xmlns:a16="http://schemas.microsoft.com/office/drawing/2014/main" id="{00504A0A-B412-7004-D549-F48C1CCCCECE}"/>
              </a:ext>
            </a:extLst>
          </p:cNvPr>
          <p:cNvSpPr>
            <a:spLocks noGrp="1"/>
          </p:cNvSpPr>
          <p:nvPr>
            <p:ph type="dt" sz="half" idx="10"/>
          </p:nvPr>
        </p:nvSpPr>
        <p:spPr/>
        <p:txBody>
          <a:bodyPr/>
          <a:lstStyle/>
          <a:p>
            <a:fld id="{EB7275DB-6D13-480B-AC77-F5019BDC5287}" type="datetime3">
              <a:rPr lang="en-US" smtClean="0"/>
              <a:t>18 October 2026</a:t>
            </a:fld>
            <a:endParaRPr lang="en-US"/>
          </a:p>
        </p:txBody>
      </p:sp>
      <p:sp>
        <p:nvSpPr>
          <p:cNvPr id="5" name="Footer Placeholder 4">
            <a:extLst>
              <a:ext uri="{FF2B5EF4-FFF2-40B4-BE49-F238E27FC236}">
                <a16:creationId xmlns:a16="http://schemas.microsoft.com/office/drawing/2014/main" id="{C77E4375-C515-FFBD-5B54-4F88623AF2FA}"/>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2DAE4A68-D736-EF3E-887F-6C75CA48ADB8}"/>
              </a:ext>
            </a:extLst>
          </p:cNvPr>
          <p:cNvSpPr>
            <a:spLocks noGrp="1"/>
          </p:cNvSpPr>
          <p:nvPr>
            <p:ph type="sldNum" sz="quarter" idx="12"/>
          </p:nvPr>
        </p:nvSpPr>
        <p:spPr/>
        <p:txBody>
          <a:bodyPr/>
          <a:lstStyle/>
          <a:p>
            <a:fld id="{7B28076C-CE04-4A00-BFAA-A90EA8355859}" type="slidenum">
              <a:rPr lang="en-US" smtClean="0"/>
              <a:pPr/>
              <a:t>6</a:t>
            </a:fld>
            <a:endParaRPr lang="en-US"/>
          </a:p>
        </p:txBody>
      </p:sp>
    </p:spTree>
    <p:extLst>
      <p:ext uri="{BB962C8B-B14F-4D97-AF65-F5344CB8AC3E}">
        <p14:creationId xmlns:p14="http://schemas.microsoft.com/office/powerpoint/2010/main" val="30056973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46706-710D-F2A0-5F4E-CF9FA4655176}"/>
              </a:ext>
            </a:extLst>
          </p:cNvPr>
          <p:cNvSpPr>
            <a:spLocks noGrp="1"/>
          </p:cNvSpPr>
          <p:nvPr>
            <p:ph type="title"/>
          </p:nvPr>
        </p:nvSpPr>
        <p:spPr/>
        <p:txBody>
          <a:bodyPr/>
          <a:lstStyle/>
          <a:p>
            <a:r>
              <a:rPr lang="en-US" dirty="0"/>
              <a:t>SYSTEM ARCHITECTURE</a:t>
            </a:r>
            <a:endParaRPr lang="en-IN" dirty="0"/>
          </a:p>
        </p:txBody>
      </p:sp>
      <p:pic>
        <p:nvPicPr>
          <p:cNvPr id="9" name="Content Placeholder 8">
            <a:extLst>
              <a:ext uri="{FF2B5EF4-FFF2-40B4-BE49-F238E27FC236}">
                <a16:creationId xmlns:a16="http://schemas.microsoft.com/office/drawing/2014/main" id="{73DFFE77-A003-3794-DF30-1AC9AE8DD1D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77528" y="1600200"/>
            <a:ext cx="6788944" cy="4525963"/>
          </a:xfrm>
          <a:prstGeom prst="rect">
            <a:avLst/>
          </a:prstGeom>
        </p:spPr>
      </p:pic>
      <p:sp>
        <p:nvSpPr>
          <p:cNvPr id="4" name="Date Placeholder 3">
            <a:extLst>
              <a:ext uri="{FF2B5EF4-FFF2-40B4-BE49-F238E27FC236}">
                <a16:creationId xmlns:a16="http://schemas.microsoft.com/office/drawing/2014/main" id="{E5CC262A-95E8-9969-4D3C-3EDA8F1AE019}"/>
              </a:ext>
            </a:extLst>
          </p:cNvPr>
          <p:cNvSpPr>
            <a:spLocks noGrp="1"/>
          </p:cNvSpPr>
          <p:nvPr>
            <p:ph type="dt" sz="half" idx="10"/>
          </p:nvPr>
        </p:nvSpPr>
        <p:spPr/>
        <p:txBody>
          <a:bodyPr/>
          <a:lstStyle/>
          <a:p>
            <a:fld id="{EB7275DB-6D13-480B-AC77-F5019BDC5287}" type="datetime3">
              <a:rPr lang="en-US" smtClean="0"/>
              <a:t>18 October 2026</a:t>
            </a:fld>
            <a:endParaRPr lang="en-US"/>
          </a:p>
        </p:txBody>
      </p:sp>
      <p:sp>
        <p:nvSpPr>
          <p:cNvPr id="5" name="Footer Placeholder 4">
            <a:extLst>
              <a:ext uri="{FF2B5EF4-FFF2-40B4-BE49-F238E27FC236}">
                <a16:creationId xmlns:a16="http://schemas.microsoft.com/office/drawing/2014/main" id="{7871B891-E306-532B-F2AF-8FF89FB3B5F6}"/>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2EEB6462-04DD-015E-5A10-6C5484659EE2}"/>
              </a:ext>
            </a:extLst>
          </p:cNvPr>
          <p:cNvSpPr>
            <a:spLocks noGrp="1"/>
          </p:cNvSpPr>
          <p:nvPr>
            <p:ph type="sldNum" sz="quarter" idx="12"/>
          </p:nvPr>
        </p:nvSpPr>
        <p:spPr/>
        <p:txBody>
          <a:bodyPr/>
          <a:lstStyle/>
          <a:p>
            <a:fld id="{7B28076C-CE04-4A00-BFAA-A90EA8355859}" type="slidenum">
              <a:rPr lang="en-US" smtClean="0"/>
              <a:pPr/>
              <a:t>7</a:t>
            </a:fld>
            <a:endParaRPr lang="en-US"/>
          </a:p>
        </p:txBody>
      </p:sp>
    </p:spTree>
    <p:extLst>
      <p:ext uri="{BB962C8B-B14F-4D97-AF65-F5344CB8AC3E}">
        <p14:creationId xmlns:p14="http://schemas.microsoft.com/office/powerpoint/2010/main" val="7765399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282AD-37E8-9490-2457-E55D0D926F28}"/>
              </a:ext>
            </a:extLst>
          </p:cNvPr>
          <p:cNvSpPr>
            <a:spLocks noGrp="1"/>
          </p:cNvSpPr>
          <p:nvPr>
            <p:ph type="title"/>
          </p:nvPr>
        </p:nvSpPr>
        <p:spPr/>
        <p:txBody>
          <a:bodyPr/>
          <a:lstStyle/>
          <a:p>
            <a:r>
              <a:rPr lang="en-US" dirty="0"/>
              <a:t>MODULE IMPLEMENTATION</a:t>
            </a:r>
            <a:endParaRPr lang="en-IN" dirty="0"/>
          </a:p>
        </p:txBody>
      </p:sp>
      <p:pic>
        <p:nvPicPr>
          <p:cNvPr id="8" name="Content Placeholder 7">
            <a:extLst>
              <a:ext uri="{FF2B5EF4-FFF2-40B4-BE49-F238E27FC236}">
                <a16:creationId xmlns:a16="http://schemas.microsoft.com/office/drawing/2014/main" id="{B368905A-3EEB-1970-0527-F65A05F45A7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77528" y="1600200"/>
            <a:ext cx="6788944" cy="4525963"/>
          </a:xfrm>
          <a:prstGeom prst="rect">
            <a:avLst/>
          </a:prstGeom>
        </p:spPr>
      </p:pic>
      <p:sp>
        <p:nvSpPr>
          <p:cNvPr id="4" name="Date Placeholder 3">
            <a:extLst>
              <a:ext uri="{FF2B5EF4-FFF2-40B4-BE49-F238E27FC236}">
                <a16:creationId xmlns:a16="http://schemas.microsoft.com/office/drawing/2014/main" id="{3D774014-7A9C-BA8E-31FB-B0CFCFD2038A}"/>
              </a:ext>
            </a:extLst>
          </p:cNvPr>
          <p:cNvSpPr>
            <a:spLocks noGrp="1"/>
          </p:cNvSpPr>
          <p:nvPr>
            <p:ph type="dt" sz="half" idx="10"/>
          </p:nvPr>
        </p:nvSpPr>
        <p:spPr/>
        <p:txBody>
          <a:bodyPr/>
          <a:lstStyle/>
          <a:p>
            <a:fld id="{EB7275DB-6D13-480B-AC77-F5019BDC5287}" type="datetime3">
              <a:rPr lang="en-US" smtClean="0"/>
              <a:t>18 October 2026</a:t>
            </a:fld>
            <a:endParaRPr lang="en-US"/>
          </a:p>
        </p:txBody>
      </p:sp>
      <p:sp>
        <p:nvSpPr>
          <p:cNvPr id="5" name="Footer Placeholder 4">
            <a:extLst>
              <a:ext uri="{FF2B5EF4-FFF2-40B4-BE49-F238E27FC236}">
                <a16:creationId xmlns:a16="http://schemas.microsoft.com/office/drawing/2014/main" id="{1F99A707-2FB0-4CDA-C31A-5421D7500DDA}"/>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87A71DF9-22B1-3627-3536-3CF11275AAA6}"/>
              </a:ext>
            </a:extLst>
          </p:cNvPr>
          <p:cNvSpPr>
            <a:spLocks noGrp="1"/>
          </p:cNvSpPr>
          <p:nvPr>
            <p:ph type="sldNum" sz="quarter" idx="12"/>
          </p:nvPr>
        </p:nvSpPr>
        <p:spPr/>
        <p:txBody>
          <a:bodyPr/>
          <a:lstStyle/>
          <a:p>
            <a:fld id="{7B28076C-CE04-4A00-BFAA-A90EA8355859}" type="slidenum">
              <a:rPr lang="en-US" smtClean="0"/>
              <a:pPr/>
              <a:t>8</a:t>
            </a:fld>
            <a:endParaRPr lang="en-US"/>
          </a:p>
        </p:txBody>
      </p:sp>
    </p:spTree>
    <p:extLst>
      <p:ext uri="{BB962C8B-B14F-4D97-AF65-F5344CB8AC3E}">
        <p14:creationId xmlns:p14="http://schemas.microsoft.com/office/powerpoint/2010/main" val="2822074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7B71D-7499-2B5F-0EC3-4453C8A4E966}"/>
              </a:ext>
            </a:extLst>
          </p:cNvPr>
          <p:cNvSpPr>
            <a:spLocks noGrp="1"/>
          </p:cNvSpPr>
          <p:nvPr>
            <p:ph type="title"/>
          </p:nvPr>
        </p:nvSpPr>
        <p:spPr/>
        <p:txBody>
          <a:bodyPr/>
          <a:lstStyle/>
          <a:p>
            <a:r>
              <a:rPr lang="en-US" dirty="0"/>
              <a:t>RESULTS AND DISCUSSIONS</a:t>
            </a:r>
            <a:endParaRPr lang="en-IN" dirty="0"/>
          </a:p>
        </p:txBody>
      </p:sp>
      <p:sp>
        <p:nvSpPr>
          <p:cNvPr id="3" name="Content Placeholder 2">
            <a:extLst>
              <a:ext uri="{FF2B5EF4-FFF2-40B4-BE49-F238E27FC236}">
                <a16:creationId xmlns:a16="http://schemas.microsoft.com/office/drawing/2014/main" id="{2B7C7A2C-FDA3-9BA8-6CE0-DDF77DD675F4}"/>
              </a:ext>
            </a:extLst>
          </p:cNvPr>
          <p:cNvSpPr>
            <a:spLocks noGrp="1"/>
          </p:cNvSpPr>
          <p:nvPr>
            <p:ph idx="1"/>
          </p:nvPr>
        </p:nvSpPr>
        <p:spPr/>
        <p:txBody>
          <a:bodyPr>
            <a:noAutofit/>
          </a:bodyPr>
          <a:lstStyle/>
          <a:p>
            <a:pPr algn="just"/>
            <a:r>
              <a:rPr lang="en-IN" sz="1600" dirty="0"/>
              <a:t>The developed Power BI dashboard provides an interactive platform for </a:t>
            </a:r>
            <a:r>
              <a:rPr lang="en-IN" sz="1600" dirty="0" err="1"/>
              <a:t>analyzing</a:t>
            </a:r>
            <a:r>
              <a:rPr lang="en-IN" sz="1600" dirty="0"/>
              <a:t> real estate sales data. The dashboard presents important information through KPI cards, charts, graphs, and filters, allowing users to understand the overall performance of the property market represented by the dataset.</a:t>
            </a:r>
          </a:p>
          <a:p>
            <a:pPr algn="just"/>
            <a:r>
              <a:rPr lang="en-IN" sz="1600" dirty="0"/>
              <a:t>The analysis provides information about the </a:t>
            </a:r>
            <a:r>
              <a:rPr lang="en-IN" sz="1600" b="1" dirty="0"/>
              <a:t>total number of properties sold, total revenue generated, average property price, monthly revenue trends, and location-wise sales performance</a:t>
            </a:r>
            <a:r>
              <a:rPr lang="en-IN" sz="1600" dirty="0"/>
              <a:t>. The location analysis helps identify areas with higher sales activity, while property-type analysis shows the distribution of sales across different categories.</a:t>
            </a:r>
          </a:p>
          <a:p>
            <a:pPr algn="just"/>
            <a:r>
              <a:rPr lang="en-IN" sz="1600" dirty="0"/>
              <a:t>The price-range analysis provides insights into the distribution of properties across different price categories. Monthly revenue visualization helps users observe changes in sales performance over time. Interactive filters further improve the usability of the dashboard by allowing users to focus on specific cities, property types, price ranges, or periods.</a:t>
            </a:r>
          </a:p>
          <a:p>
            <a:pPr algn="just"/>
            <a:r>
              <a:rPr lang="en-IN" sz="1600" dirty="0"/>
              <a:t>Overall, the dashboard converts raw sales data into an easily understandable visual format. These insights can assist real estate organizations in monitoring sales performance, identifying market patterns, and supporting data-driven planning. Investment decisions should, however, consider additional factors beyond the dashboard, such as market conditions, property-specific risks, financing costs, and legal considerations.</a:t>
            </a:r>
          </a:p>
          <a:p>
            <a:pPr marL="0" indent="0" algn="just">
              <a:buNone/>
            </a:pPr>
            <a:endParaRPr lang="en-IN" sz="1600" b="1" dirty="0"/>
          </a:p>
          <a:p>
            <a:pPr algn="just"/>
            <a:endParaRPr lang="en-IN" sz="1600" dirty="0"/>
          </a:p>
        </p:txBody>
      </p:sp>
      <p:sp>
        <p:nvSpPr>
          <p:cNvPr id="4" name="Date Placeholder 3">
            <a:extLst>
              <a:ext uri="{FF2B5EF4-FFF2-40B4-BE49-F238E27FC236}">
                <a16:creationId xmlns:a16="http://schemas.microsoft.com/office/drawing/2014/main" id="{452BA5F4-FF7B-CB54-F295-361832332261}"/>
              </a:ext>
            </a:extLst>
          </p:cNvPr>
          <p:cNvSpPr>
            <a:spLocks noGrp="1"/>
          </p:cNvSpPr>
          <p:nvPr>
            <p:ph type="dt" sz="half" idx="10"/>
          </p:nvPr>
        </p:nvSpPr>
        <p:spPr/>
        <p:txBody>
          <a:bodyPr/>
          <a:lstStyle/>
          <a:p>
            <a:fld id="{EB7275DB-6D13-480B-AC77-F5019BDC5287}" type="datetime3">
              <a:rPr lang="en-US" smtClean="0"/>
              <a:t>18 October 2026</a:t>
            </a:fld>
            <a:endParaRPr lang="en-US"/>
          </a:p>
        </p:txBody>
      </p:sp>
      <p:sp>
        <p:nvSpPr>
          <p:cNvPr id="5" name="Footer Placeholder 4">
            <a:extLst>
              <a:ext uri="{FF2B5EF4-FFF2-40B4-BE49-F238E27FC236}">
                <a16:creationId xmlns:a16="http://schemas.microsoft.com/office/drawing/2014/main" id="{C26D1346-A627-E064-4101-95F8E3E7EB75}"/>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9DDD3A6C-B9FD-0E5A-68F7-1485446F5A43}"/>
              </a:ext>
            </a:extLst>
          </p:cNvPr>
          <p:cNvSpPr>
            <a:spLocks noGrp="1"/>
          </p:cNvSpPr>
          <p:nvPr>
            <p:ph type="sldNum" sz="quarter" idx="12"/>
          </p:nvPr>
        </p:nvSpPr>
        <p:spPr/>
        <p:txBody>
          <a:bodyPr/>
          <a:lstStyle/>
          <a:p>
            <a:fld id="{7B28076C-CE04-4A00-BFAA-A90EA8355859}" type="slidenum">
              <a:rPr lang="en-US" smtClean="0"/>
              <a:pPr/>
              <a:t>9</a:t>
            </a:fld>
            <a:endParaRPr lang="en-US"/>
          </a:p>
        </p:txBody>
      </p:sp>
    </p:spTree>
    <p:extLst>
      <p:ext uri="{BB962C8B-B14F-4D97-AF65-F5344CB8AC3E}">
        <p14:creationId xmlns:p14="http://schemas.microsoft.com/office/powerpoint/2010/main" val="30333996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FDDD1-9A40-8F5C-C407-70DC79BEB76A}"/>
              </a:ext>
            </a:extLst>
          </p:cNvPr>
          <p:cNvSpPr>
            <a:spLocks noGrp="1"/>
          </p:cNvSpPr>
          <p:nvPr>
            <p:ph type="title"/>
          </p:nvPr>
        </p:nvSpPr>
        <p:spPr/>
        <p:txBody>
          <a:bodyPr/>
          <a:lstStyle/>
          <a:p>
            <a:r>
              <a:rPr lang="en-US" dirty="0"/>
              <a:t>CONCLUSION AND FUTURE SCOPE</a:t>
            </a:r>
            <a:endParaRPr lang="en-IN" dirty="0"/>
          </a:p>
        </p:txBody>
      </p:sp>
      <p:sp>
        <p:nvSpPr>
          <p:cNvPr id="3" name="Content Placeholder 2">
            <a:extLst>
              <a:ext uri="{FF2B5EF4-FFF2-40B4-BE49-F238E27FC236}">
                <a16:creationId xmlns:a16="http://schemas.microsoft.com/office/drawing/2014/main" id="{6AA4E0E0-DE42-3467-A29E-EF72149D14EF}"/>
              </a:ext>
            </a:extLst>
          </p:cNvPr>
          <p:cNvSpPr>
            <a:spLocks noGrp="1"/>
          </p:cNvSpPr>
          <p:nvPr>
            <p:ph idx="1"/>
          </p:nvPr>
        </p:nvSpPr>
        <p:spPr/>
        <p:txBody>
          <a:bodyPr>
            <a:normAutofit fontScale="70000" lnSpcReduction="20000"/>
          </a:bodyPr>
          <a:lstStyle/>
          <a:p>
            <a:pPr algn="just"/>
            <a:r>
              <a:rPr lang="en-IN" dirty="0"/>
              <a:t>The </a:t>
            </a:r>
            <a:r>
              <a:rPr lang="en-IN" b="1" dirty="0"/>
              <a:t>Real Estate Sales &amp; Property Analysis using Power BI</a:t>
            </a:r>
            <a:r>
              <a:rPr lang="en-IN" dirty="0"/>
              <a:t> project demonstrates how Business Intelligence and data visualization can be applied to real estate sales data. The developed dashboard provides an interactive method for </a:t>
            </a:r>
            <a:r>
              <a:rPr lang="en-IN" dirty="0" err="1"/>
              <a:t>analyzing</a:t>
            </a:r>
            <a:r>
              <a:rPr lang="en-IN" dirty="0"/>
              <a:t> property sales according to location, property type, price range, and time.</a:t>
            </a:r>
          </a:p>
          <a:p>
            <a:pPr algn="just"/>
            <a:r>
              <a:rPr lang="en-IN" dirty="0"/>
              <a:t>Power BI simplifies the process of converting raw data into useful information through data cleaning, </a:t>
            </a:r>
            <a:r>
              <a:rPr lang="en-IN" dirty="0" err="1"/>
              <a:t>modeling</a:t>
            </a:r>
            <a:r>
              <a:rPr lang="en-IN" dirty="0"/>
              <a:t>, DAX calculations, KPIs, charts, and interactive filters. The dashboard helps users monitor revenue, identify high-performing locations, compare property categories, and understand sales trends.</a:t>
            </a:r>
          </a:p>
          <a:p>
            <a:pPr algn="just"/>
            <a:r>
              <a:rPr lang="en-IN" dirty="0"/>
              <a:t>The project successfully demonstrates the usefulness of Power BI for </a:t>
            </a:r>
            <a:r>
              <a:rPr lang="en-IN" b="1" dirty="0"/>
              <a:t>real estate data analysis and business reporting</a:t>
            </a:r>
            <a:r>
              <a:rPr lang="en-IN" dirty="0"/>
              <a:t>. The system can be further enhanced by incorporating additional datasets such as property valuation, customer demographics, rental yields, geographic factors, and historical market data to provide a broader analytical view.</a:t>
            </a:r>
          </a:p>
          <a:p>
            <a:pPr algn="just"/>
            <a:endParaRPr lang="en-IN" dirty="0"/>
          </a:p>
        </p:txBody>
      </p:sp>
      <p:sp>
        <p:nvSpPr>
          <p:cNvPr id="4" name="Date Placeholder 3">
            <a:extLst>
              <a:ext uri="{FF2B5EF4-FFF2-40B4-BE49-F238E27FC236}">
                <a16:creationId xmlns:a16="http://schemas.microsoft.com/office/drawing/2014/main" id="{2505D399-8EFA-E0C3-320D-86E0F4E3721F}"/>
              </a:ext>
            </a:extLst>
          </p:cNvPr>
          <p:cNvSpPr>
            <a:spLocks noGrp="1"/>
          </p:cNvSpPr>
          <p:nvPr>
            <p:ph type="dt" sz="half" idx="10"/>
          </p:nvPr>
        </p:nvSpPr>
        <p:spPr/>
        <p:txBody>
          <a:bodyPr/>
          <a:lstStyle/>
          <a:p>
            <a:fld id="{EB7275DB-6D13-480B-AC77-F5019BDC5287}" type="datetime3">
              <a:rPr lang="en-US" smtClean="0"/>
              <a:t>18 October 2026</a:t>
            </a:fld>
            <a:endParaRPr lang="en-US"/>
          </a:p>
        </p:txBody>
      </p:sp>
      <p:sp>
        <p:nvSpPr>
          <p:cNvPr id="5" name="Footer Placeholder 4">
            <a:extLst>
              <a:ext uri="{FF2B5EF4-FFF2-40B4-BE49-F238E27FC236}">
                <a16:creationId xmlns:a16="http://schemas.microsoft.com/office/drawing/2014/main" id="{663C0C37-5169-2C1F-6399-92EBF0B0B273}"/>
              </a:ext>
            </a:extLst>
          </p:cNvPr>
          <p:cNvSpPr>
            <a:spLocks noGrp="1"/>
          </p:cNvSpPr>
          <p:nvPr>
            <p:ph type="ftr" sz="quarter" idx="11"/>
          </p:nvPr>
        </p:nvSpPr>
        <p:spPr/>
        <p:txBody>
          <a:bodyPr/>
          <a:lstStyle/>
          <a:p>
            <a:r>
              <a:rPr lang="en-US"/>
              <a:t>School of Computing - CSE</a:t>
            </a:r>
          </a:p>
        </p:txBody>
      </p:sp>
      <p:sp>
        <p:nvSpPr>
          <p:cNvPr id="6" name="Slide Number Placeholder 5">
            <a:extLst>
              <a:ext uri="{FF2B5EF4-FFF2-40B4-BE49-F238E27FC236}">
                <a16:creationId xmlns:a16="http://schemas.microsoft.com/office/drawing/2014/main" id="{E75B9635-63C8-570C-B2A1-A968C2B13288}"/>
              </a:ext>
            </a:extLst>
          </p:cNvPr>
          <p:cNvSpPr>
            <a:spLocks noGrp="1"/>
          </p:cNvSpPr>
          <p:nvPr>
            <p:ph type="sldNum" sz="quarter" idx="12"/>
          </p:nvPr>
        </p:nvSpPr>
        <p:spPr/>
        <p:txBody>
          <a:bodyPr/>
          <a:lstStyle/>
          <a:p>
            <a:fld id="{7B28076C-CE04-4A00-BFAA-A90EA8355859}" type="slidenum">
              <a:rPr lang="en-US" smtClean="0"/>
              <a:pPr/>
              <a:t>10</a:t>
            </a:fld>
            <a:endParaRPr lang="en-US"/>
          </a:p>
        </p:txBody>
      </p:sp>
    </p:spTree>
    <p:extLst>
      <p:ext uri="{BB962C8B-B14F-4D97-AF65-F5344CB8AC3E}">
        <p14:creationId xmlns:p14="http://schemas.microsoft.com/office/powerpoint/2010/main" val="25373702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FA3D9-5B38-A267-7691-582DAE68AEB0}"/>
              </a:ext>
            </a:extLst>
          </p:cNvPr>
          <p:cNvSpPr>
            <a:spLocks noGrp="1"/>
          </p:cNvSpPr>
          <p:nvPr>
            <p:ph type="title"/>
          </p:nvPr>
        </p:nvSpPr>
        <p:spPr/>
        <p:txBody>
          <a:bodyPr>
            <a:normAutofit/>
          </a:bodyPr>
          <a:lstStyle/>
          <a:p>
            <a:r>
              <a:rPr lang="en-IN" sz="3600" dirty="0"/>
              <a:t>REFERENCES</a:t>
            </a:r>
          </a:p>
        </p:txBody>
      </p:sp>
      <p:sp>
        <p:nvSpPr>
          <p:cNvPr id="3" name="Content Placeholder 2">
            <a:extLst>
              <a:ext uri="{FF2B5EF4-FFF2-40B4-BE49-F238E27FC236}">
                <a16:creationId xmlns:a16="http://schemas.microsoft.com/office/drawing/2014/main" id="{9BC309EE-F211-8F10-9087-6FE7260000F2}"/>
              </a:ext>
            </a:extLst>
          </p:cNvPr>
          <p:cNvSpPr>
            <a:spLocks noGrp="1"/>
          </p:cNvSpPr>
          <p:nvPr>
            <p:ph idx="1"/>
          </p:nvPr>
        </p:nvSpPr>
        <p:spPr>
          <a:xfrm>
            <a:off x="457200" y="1371600"/>
            <a:ext cx="8229600" cy="5105400"/>
          </a:xfrm>
        </p:spPr>
        <p:txBody>
          <a:bodyPr>
            <a:noAutofit/>
          </a:bodyPr>
          <a:lstStyle/>
          <a:p>
            <a:pPr lvl="0"/>
            <a:r>
              <a:rPr lang="en-IN" sz="2000" dirty="0"/>
              <a:t>Microsoft, </a:t>
            </a:r>
            <a:r>
              <a:rPr lang="en-IN" sz="2000" b="1" dirty="0"/>
              <a:t>Power BI Documentation</a:t>
            </a:r>
            <a:r>
              <a:rPr lang="en-IN" sz="2000" dirty="0"/>
              <a:t>, Microsoft Learn. Microsoft Power BI Documentation </a:t>
            </a:r>
          </a:p>
          <a:p>
            <a:pPr lvl="0"/>
            <a:r>
              <a:rPr lang="en-IN" sz="2000" dirty="0"/>
              <a:t>Microsoft, </a:t>
            </a:r>
            <a:r>
              <a:rPr lang="en-IN" sz="2000" b="1" dirty="0"/>
              <a:t>Power Query Documentation</a:t>
            </a:r>
            <a:r>
              <a:rPr lang="en-IN" sz="2000" dirty="0"/>
              <a:t>, Microsoft Learn. Power Query Documentation </a:t>
            </a:r>
          </a:p>
          <a:p>
            <a:pPr lvl="0"/>
            <a:r>
              <a:rPr lang="en-IN" sz="2000" dirty="0"/>
              <a:t>Microsoft, </a:t>
            </a:r>
            <a:r>
              <a:rPr lang="en-IN" sz="2000" b="1" dirty="0"/>
              <a:t>DAX Documentation</a:t>
            </a:r>
            <a:r>
              <a:rPr lang="en-IN" sz="2000" dirty="0"/>
              <a:t>, Microsoft Learn. DAX Documentation </a:t>
            </a:r>
          </a:p>
          <a:p>
            <a:pPr lvl="0"/>
            <a:r>
              <a:rPr lang="en-IN" sz="2000" dirty="0"/>
              <a:t>Microsoft, </a:t>
            </a:r>
            <a:r>
              <a:rPr lang="en-IN" sz="2000" b="1" dirty="0"/>
              <a:t>Power BI Data </a:t>
            </a:r>
            <a:r>
              <a:rPr lang="en-IN" sz="2000" b="1" dirty="0" err="1"/>
              <a:t>Modeling</a:t>
            </a:r>
            <a:r>
              <a:rPr lang="en-IN" sz="2000" b="1" dirty="0"/>
              <a:t> Documentation</a:t>
            </a:r>
            <a:r>
              <a:rPr lang="en-IN" sz="2000" dirty="0"/>
              <a:t>, Microsoft Learn. Power BI Data </a:t>
            </a:r>
            <a:r>
              <a:rPr lang="en-IN" sz="2000" dirty="0" err="1"/>
              <a:t>Modeling</a:t>
            </a:r>
            <a:r>
              <a:rPr lang="en-IN" sz="2000" dirty="0"/>
              <a:t> </a:t>
            </a:r>
          </a:p>
          <a:p>
            <a:pPr lvl="0"/>
            <a:r>
              <a:rPr lang="en-IN" sz="2000" dirty="0"/>
              <a:t>Microsoft, </a:t>
            </a:r>
            <a:r>
              <a:rPr lang="en-IN" sz="2000" b="1" dirty="0"/>
              <a:t>Power BI Visualizations Documentation</a:t>
            </a:r>
            <a:r>
              <a:rPr lang="en-IN" sz="2000" dirty="0"/>
              <a:t>, Microsoft Learn. </a:t>
            </a:r>
            <a:r>
              <a:rPr lang="en-IN" sz="2000" dirty="0">
                <a:hlinkClick r:id="rId3"/>
              </a:rPr>
              <a:t>Power BI Visualizations</a:t>
            </a:r>
            <a:endParaRPr lang="en-IN" sz="2000" dirty="0"/>
          </a:p>
          <a:p>
            <a:pPr marL="0" lvl="0" indent="0" algn="just">
              <a:buNone/>
            </a:pPr>
            <a:endParaRPr lang="en-US" sz="2000" dirty="0">
              <a:latin typeface="Arial" panose="020B0604020202020204" pitchFamily="34" charset="0"/>
              <a:cs typeface="Arial" panose="020B0604020202020204" pitchFamily="34" charset="0"/>
            </a:endParaRPr>
          </a:p>
        </p:txBody>
      </p:sp>
      <p:sp>
        <p:nvSpPr>
          <p:cNvPr id="4" name="Date Placeholder 3">
            <a:extLst>
              <a:ext uri="{FF2B5EF4-FFF2-40B4-BE49-F238E27FC236}">
                <a16:creationId xmlns:a16="http://schemas.microsoft.com/office/drawing/2014/main" id="{2B427FE9-29DA-0E49-B4DE-4727923C5DB0}"/>
              </a:ext>
            </a:extLst>
          </p:cNvPr>
          <p:cNvSpPr>
            <a:spLocks noGrp="1"/>
          </p:cNvSpPr>
          <p:nvPr>
            <p:ph type="dt" sz="half" idx="10"/>
          </p:nvPr>
        </p:nvSpPr>
        <p:spPr/>
        <p:txBody>
          <a:bodyPr/>
          <a:lstStyle/>
          <a:p>
            <a:endParaRPr lang="en-US" dirty="0"/>
          </a:p>
        </p:txBody>
      </p:sp>
      <p:sp>
        <p:nvSpPr>
          <p:cNvPr id="6" name="Slide Number Placeholder 5">
            <a:extLst>
              <a:ext uri="{FF2B5EF4-FFF2-40B4-BE49-F238E27FC236}">
                <a16:creationId xmlns:a16="http://schemas.microsoft.com/office/drawing/2014/main" id="{B2B0431B-9CC5-946D-2E4D-E25A5A48B915}"/>
              </a:ext>
            </a:extLst>
          </p:cNvPr>
          <p:cNvSpPr>
            <a:spLocks noGrp="1"/>
          </p:cNvSpPr>
          <p:nvPr>
            <p:ph type="sldNum" sz="quarter" idx="12"/>
          </p:nvPr>
        </p:nvSpPr>
        <p:spPr/>
        <p:txBody>
          <a:bodyPr/>
          <a:lstStyle/>
          <a:p>
            <a:fld id="{7B28076C-CE04-4A00-BFAA-A90EA8355859}" type="slidenum">
              <a:rPr lang="en-US" smtClean="0"/>
              <a:pPr/>
              <a:t>11</a:t>
            </a:fld>
            <a:endParaRPr lang="en-US"/>
          </a:p>
        </p:txBody>
      </p:sp>
    </p:spTree>
    <p:extLst>
      <p:ext uri="{BB962C8B-B14F-4D97-AF65-F5344CB8AC3E}">
        <p14:creationId xmlns:p14="http://schemas.microsoft.com/office/powerpoint/2010/main" val="38116432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600" dirty="0"/>
              <a:t>THANK</a:t>
            </a:r>
            <a:r>
              <a:rPr lang="en-IN" dirty="0"/>
              <a:t> </a:t>
            </a:r>
            <a:r>
              <a:rPr lang="en-IN" sz="3600" dirty="0"/>
              <a:t>YOU</a:t>
            </a:r>
          </a:p>
        </p:txBody>
      </p:sp>
      <p:sp>
        <p:nvSpPr>
          <p:cNvPr id="3" name="Date Placeholder 2"/>
          <p:cNvSpPr>
            <a:spLocks noGrp="1"/>
          </p:cNvSpPr>
          <p:nvPr>
            <p:ph type="dt" sz="half" idx="10"/>
          </p:nvPr>
        </p:nvSpPr>
        <p:spPr/>
        <p:txBody>
          <a:bodyPr/>
          <a:lstStyle/>
          <a:p>
            <a:fld id="{9FE8A9F4-4DB3-4EF1-A315-68E41BB689F2}" type="datetime3">
              <a:rPr lang="en-US" smtClean="0"/>
              <a:t>18 October 2026</a:t>
            </a:fld>
            <a:endParaRPr lang="en-US"/>
          </a:p>
        </p:txBody>
      </p:sp>
      <p:sp>
        <p:nvSpPr>
          <p:cNvPr id="4" name="Footer Placeholder 3"/>
          <p:cNvSpPr>
            <a:spLocks noGrp="1"/>
          </p:cNvSpPr>
          <p:nvPr>
            <p:ph type="ftr" sz="quarter" idx="11"/>
          </p:nvPr>
        </p:nvSpPr>
        <p:spPr/>
        <p:txBody>
          <a:bodyPr/>
          <a:lstStyle/>
          <a:p>
            <a:r>
              <a:rPr lang="en-US"/>
              <a:t>School of Computing - CSE</a:t>
            </a:r>
          </a:p>
        </p:txBody>
      </p:sp>
      <p:sp>
        <p:nvSpPr>
          <p:cNvPr id="5" name="Slide Number Placeholder 4"/>
          <p:cNvSpPr>
            <a:spLocks noGrp="1"/>
          </p:cNvSpPr>
          <p:nvPr>
            <p:ph type="sldNum" sz="quarter" idx="12"/>
          </p:nvPr>
        </p:nvSpPr>
        <p:spPr/>
        <p:txBody>
          <a:bodyPr/>
          <a:lstStyle/>
          <a:p>
            <a:fld id="{7B28076C-CE04-4A00-BFAA-A90EA8355859}" type="slidenum">
              <a:rPr lang="en-US" smtClean="0"/>
              <a:pPr/>
              <a:t>12</a:t>
            </a:fld>
            <a:endParaRPr lang="en-US"/>
          </a:p>
        </p:txBody>
      </p:sp>
      <p:sp>
        <p:nvSpPr>
          <p:cNvPr id="6" name="Rectangle 5"/>
          <p:cNvSpPr/>
          <p:nvPr/>
        </p:nvSpPr>
        <p:spPr>
          <a:xfrm>
            <a:off x="609600" y="2690336"/>
            <a:ext cx="7918940" cy="1384995"/>
          </a:xfrm>
          <a:prstGeom prst="rect">
            <a:avLst/>
          </a:prstGeom>
        </p:spPr>
        <p:txBody>
          <a:bodyPr wrap="square">
            <a:spAutoFit/>
          </a:bodyPr>
          <a:lstStyle/>
          <a:p>
            <a:pPr algn="just"/>
            <a:r>
              <a:rPr lang="en-IN" sz="2800" dirty="0"/>
              <a:t>We thank God, Our Department, Guide, Panel Members, Supportive Professors and all Technical and non Technical staff who helped us in our Project.</a:t>
            </a:r>
          </a:p>
        </p:txBody>
      </p:sp>
    </p:spTree>
    <p:extLst>
      <p:ext uri="{BB962C8B-B14F-4D97-AF65-F5344CB8AC3E}">
        <p14:creationId xmlns:p14="http://schemas.microsoft.com/office/powerpoint/2010/main" val="1111329394"/>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6507</TotalTime>
  <Words>1049</Words>
  <Application>Microsoft Office PowerPoint</Application>
  <PresentationFormat>On-screen Show (4:3)</PresentationFormat>
  <Paragraphs>93</Paragraphs>
  <Slides>12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Custom Design</vt:lpstr>
      <vt:lpstr>  </vt:lpstr>
      <vt:lpstr>AGENDA</vt:lpstr>
      <vt:lpstr>COURSE CERTIFICATE</vt:lpstr>
      <vt:lpstr>ABSTRACT</vt:lpstr>
      <vt:lpstr>INTRODUCTION</vt:lpstr>
      <vt:lpstr>OBJECTIVES</vt:lpstr>
      <vt:lpstr>SYSTEM ARCHITECTURE</vt:lpstr>
      <vt:lpstr>MODULE IMPLEMENTATION</vt:lpstr>
      <vt:lpstr>RESULTS AND DISCUSSIONS</vt:lpstr>
      <vt:lpstr>CONCLUSION AND FUTURE SCOPE</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Windows User</dc:creator>
  <cp:lastModifiedBy>Monisha Mohanarangan</cp:lastModifiedBy>
  <cp:revision>119</cp:revision>
  <dcterms:created xsi:type="dcterms:W3CDTF">2019-11-06T07:48:53Z</dcterms:created>
  <dcterms:modified xsi:type="dcterms:W3CDTF">2026-10-18T11:37:49Z</dcterms:modified>
</cp:coreProperties>
</file>